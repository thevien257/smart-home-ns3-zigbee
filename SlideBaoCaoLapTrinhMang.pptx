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92" r:id="rId5"/>
    <p:sldId id="305" r:id="rId6"/>
    <p:sldId id="306" r:id="rId7"/>
    <p:sldId id="307" r:id="rId8"/>
    <p:sldId id="309" r:id="rId9"/>
    <p:sldId id="310" r:id="rId10"/>
    <p:sldId id="311" r:id="rId11"/>
    <p:sldId id="312" r:id="rId12"/>
    <p:sldId id="313" r:id="rId13"/>
    <p:sldId id="31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8533D1-CB0D-C001-9FF9-941D1FB471EF}" v="43" dt="2025-11-24T15:17:30.878"/>
    <p1510:client id="{E55470D4-D7D7-9AFB-786C-681097DD7F4F}" v="147" dt="2025-11-24T15:20:41.4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C48A84-2BEB-4687-92CB-9A35BA280FB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AB988-83E0-475F-9A40-6008A310D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077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D8F14-EE0B-B4E2-6879-36B78C6BF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8246D2-C1AF-D6BA-5F6B-456B4209F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8CA11-9ACC-DD56-48C1-41676332F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2B9C-E191-44FC-91C7-29FE09B9A9E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83846-A308-CCC1-D0B1-967852D29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3229B-28A6-C774-4AEF-55210ED0A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53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B261B-7A51-DDAA-CBBA-21937212F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AE30A-75F3-DF2F-0A00-53E6F4D1E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BB6FC-04FA-D744-A841-3FC8CA464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2B9C-E191-44FC-91C7-29FE09B9A9E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283D5-BDCE-2409-E18C-DC1E1B839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B763-6903-7A9E-94F5-8C95E503C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34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A4277-7B29-7746-2072-B0773CAAB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AE0AA-76A2-959F-D25D-29C44DF16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CAEAC-6A33-47FA-ADBC-33689F7FF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2B9C-E191-44FC-91C7-29FE09B9A9E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587FF-A90F-AB9B-D3BC-DA7D6D944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578E8-309A-1CEA-7FBF-EAC761E1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41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2858F-6F04-3C42-62C8-36EF5EAC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EFEAC-AE52-3FC8-4B59-453AED9DB5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FA08B-96AF-CA4F-6557-94DDECBA8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6A830-41E6-8D1E-4E4F-3FACDBB63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2B9C-E191-44FC-91C7-29FE09B9A9E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3B4AA-FA37-57C6-8E16-B27F5D3E8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85AA3-6F7F-67FD-D958-579BE9672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0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C1DD4-3EA3-28C2-024F-F33192953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F9548-AC4C-E9CD-2733-B22AAF8E8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5C5DE-A4ED-8B50-BF74-FE9E601A3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5A7D4D-CF2B-3C85-D6CC-3D1F815A7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7C4C89-B4A8-F654-AC6C-754DDD9276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12387C-BC66-5B12-8775-C7D4BCA29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2B9C-E191-44FC-91C7-29FE09B9A9E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FB896-2EE8-E723-AFD6-AF8F8CB03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580C79-DB49-E57C-CC6A-C67CF1EE6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89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8810C-EE81-5860-8EF2-46B05EEA9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2CE15D-61F6-607D-D4CA-88F6F685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2B9C-E191-44FC-91C7-29FE09B9A9E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1F024-C715-ECA4-2531-927FFAB2A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25F20-643D-A17A-9BDF-33F4DD256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07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9FFBC5-15FF-A186-7C4D-EE3B367BA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2B9C-E191-44FC-91C7-29FE09B9A9E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5C30B-4009-9E54-A9AD-274F979FF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222E8-2309-5827-C8DA-B948127A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36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CB747-1947-2D78-5BA9-D69C9F2F9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2AD00-E975-9ADA-8576-DE656DEC3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08289-67BC-2277-8C4A-8B41930B6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DC7C4-32D2-C2D2-45D3-6E32E18D6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2B9C-E191-44FC-91C7-29FE09B9A9E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CD323-3F20-5549-7E7C-E74803CB2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89D85-9CED-AEE8-CE24-4B7E7210C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014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05189-F415-8AAF-8533-3C7375F5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86BB6F-14CB-A25C-CF7B-FAFE6E248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A49F1B-0CA1-56CC-1426-54E1EB773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161C5-7982-8534-CE67-BEC76E2F2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2B9C-E191-44FC-91C7-29FE09B9A9E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C15E7-B35B-FCDE-6918-A223D50A2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894A6-5BC8-6C76-13F9-5A873BDF5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5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80816-E111-9D1A-7A39-7F97E6A6E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37152-0C20-04BE-1539-1432DFFBE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8A6B1-E895-49B5-C44A-4523D086F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2B9C-E191-44FC-91C7-29FE09B9A9E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2A78B-473F-D9D9-7360-9E8E8F83E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BD9AD-2EB5-5396-EAB5-CE9F2E26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2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70DC34-A897-5654-7F1E-48050F6FA1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4DE8A-CF6C-5520-9CAB-7A78D2766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AF29D-2D7A-ED6B-8795-8C5F53701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2B9C-E191-44FC-91C7-29FE09B9A9E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FE73E-876D-27ED-FB72-02AECF67C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AA736-1FDA-004E-C518-4B79C7AB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68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51AEC3-7B83-FA9E-64BB-79B28FDC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49688-7C1B-D3D7-FBFA-99F52D0FA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5DFE9-606D-E7BC-4FE1-871EB1F7BA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12B9C-E191-44FC-91C7-29FE09B9A9E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52A52-3E49-0C51-6D61-EAB74C50B8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89223-6665-267C-F28E-CD1C8F8A45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4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CF61D4-0B5C-B662-E6B8-7A9567F41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0AFAA2E-BD1C-FF3A-FDBC-87D1B1BEE6D1}"/>
              </a:ext>
            </a:extLst>
          </p:cNvPr>
          <p:cNvSpPr txBox="1"/>
          <p:nvPr/>
        </p:nvSpPr>
        <p:spPr>
          <a:xfrm>
            <a:off x="3048778" y="91054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vi-VN" b="1" i="0">
                <a:solidFill>
                  <a:srgbClr val="383C5B"/>
                </a:solidFill>
                <a:effectLst/>
              </a:rPr>
              <a:t>TRƯỜNG ĐẠI HỌC BÁCH KHOA - ĐẠI HỌC ĐÀ NẴNG</a:t>
            </a:r>
            <a:endParaRPr lang="vi-VN">
              <a:effectLst/>
            </a:endParaRPr>
          </a:p>
          <a:p>
            <a:pPr algn="ctr" rtl="0">
              <a:buNone/>
            </a:pPr>
            <a:r>
              <a:rPr lang="vi-VN" b="1" i="0">
                <a:solidFill>
                  <a:srgbClr val="383C5B"/>
                </a:solidFill>
                <a:effectLst/>
              </a:rPr>
              <a:t>KHOA ĐIỆN TỬ - VIỄN THÔNG</a:t>
            </a:r>
            <a:endParaRPr lang="vi-VN">
              <a:effectLst/>
            </a:endParaRPr>
          </a:p>
        </p:txBody>
      </p:sp>
      <p:pic>
        <p:nvPicPr>
          <p:cNvPr id="13" name="Picture 12" descr="A blue and yellow logo&#10;&#10;AI-generated content may be incorrect.">
            <a:extLst>
              <a:ext uri="{FF2B5EF4-FFF2-40B4-BE49-F238E27FC236}">
                <a16:creationId xmlns:a16="http://schemas.microsoft.com/office/drawing/2014/main" id="{98EAA2C7-8B7F-9E38-F0D0-75610BBCB0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520" y="230481"/>
            <a:ext cx="602564" cy="604344"/>
          </a:xfrm>
          <a:prstGeom prst="rect">
            <a:avLst/>
          </a:prstGeom>
        </p:spPr>
      </p:pic>
      <p:pic>
        <p:nvPicPr>
          <p:cNvPr id="16" name="Picture 15" descr="A logo of a company&#10;&#10;AI-generated content may be incorrect.">
            <a:extLst>
              <a:ext uri="{FF2B5EF4-FFF2-40B4-BE49-F238E27FC236}">
                <a16:creationId xmlns:a16="http://schemas.microsoft.com/office/drawing/2014/main" id="{E2BCFDC8-5224-82CA-D73B-FD8474325D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465" y="230481"/>
            <a:ext cx="604344" cy="60434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77E6201-F9A5-1360-352B-A2AE87253139}"/>
              </a:ext>
            </a:extLst>
          </p:cNvPr>
          <p:cNvSpPr txBox="1"/>
          <p:nvPr/>
        </p:nvSpPr>
        <p:spPr>
          <a:xfrm>
            <a:off x="3104909" y="2239896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3200" b="1" i="0">
                <a:solidFill>
                  <a:srgbClr val="383C5B"/>
                </a:solidFill>
                <a:effectLst/>
              </a:rPr>
              <a:t>Lập trình mạng</a:t>
            </a:r>
            <a:endParaRPr lang="en-US" sz="3200">
              <a:effectLst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A0940A-0A31-540E-29F7-D8E99182AC5B}"/>
              </a:ext>
            </a:extLst>
          </p:cNvPr>
          <p:cNvSpPr txBox="1"/>
          <p:nvPr/>
        </p:nvSpPr>
        <p:spPr>
          <a:xfrm>
            <a:off x="416259" y="2824671"/>
            <a:ext cx="116081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rgbClr val="383C5B"/>
                </a:solidFill>
              </a:rPr>
              <a:t>Khảo sát tác động của nhiễu lên kênh truyền mạng ZigBee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782328-9C19-AC2E-442E-146E48F05F56}"/>
              </a:ext>
            </a:extLst>
          </p:cNvPr>
          <p:cNvSpPr txBox="1"/>
          <p:nvPr/>
        </p:nvSpPr>
        <p:spPr>
          <a:xfrm>
            <a:off x="2827117" y="3561080"/>
            <a:ext cx="72112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sz="3200" b="1" i="0">
                <a:solidFill>
                  <a:srgbClr val="383C5B"/>
                </a:solidFill>
                <a:effectLst/>
              </a:rPr>
              <a:t>SVTH:  </a:t>
            </a:r>
            <a:r>
              <a:rPr lang="en-US" sz="3200" b="0" i="0">
                <a:solidFill>
                  <a:srgbClr val="383C5B"/>
                </a:solidFill>
                <a:effectLst/>
              </a:rPr>
              <a:t>Trần Duy Nguyên    - 106220264</a:t>
            </a:r>
          </a:p>
          <a:p>
            <a:pPr algn="l" rtl="0">
              <a:buNone/>
            </a:pPr>
            <a:r>
              <a:rPr lang="en-US" sz="3200" b="0" i="0">
                <a:solidFill>
                  <a:srgbClr val="383C5B"/>
                </a:solidFill>
                <a:effectLst/>
              </a:rPr>
              <a:t> 	     Trần Viết Thắng 	- 106220234 </a:t>
            </a:r>
            <a:endParaRPr lang="en-US" sz="3200"/>
          </a:p>
          <a:p>
            <a:pPr algn="l" rtl="0">
              <a:buNone/>
            </a:pPr>
            <a:r>
              <a:rPr lang="en-US" sz="3200" b="0" i="0">
                <a:solidFill>
                  <a:srgbClr val="383C5B"/>
                </a:solidFill>
                <a:effectLst/>
              </a:rPr>
              <a:t> 	     Bùi Trịnh Thế Viên  - 106220276</a:t>
            </a:r>
            <a:endParaRPr lang="en-US" sz="32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05160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791630-EF6C-76C2-3D16-A1C6D7293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D74CA2-E30D-D183-B1A4-667497C89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451500"/>
              </p:ext>
            </p:extLst>
          </p:nvPr>
        </p:nvGraphicFramePr>
        <p:xfrm>
          <a:off x="623103" y="1616052"/>
          <a:ext cx="10945793" cy="430744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86674">
                  <a:extLst>
                    <a:ext uri="{9D8B030D-6E8A-4147-A177-3AD203B41FA5}">
                      <a16:colId xmlns:a16="http://schemas.microsoft.com/office/drawing/2014/main" val="3477297062"/>
                    </a:ext>
                  </a:extLst>
                </a:gridCol>
                <a:gridCol w="1946388">
                  <a:extLst>
                    <a:ext uri="{9D8B030D-6E8A-4147-A177-3AD203B41FA5}">
                      <a16:colId xmlns:a16="http://schemas.microsoft.com/office/drawing/2014/main" val="1817959777"/>
                    </a:ext>
                  </a:extLst>
                </a:gridCol>
                <a:gridCol w="5800562">
                  <a:extLst>
                    <a:ext uri="{9D8B030D-6E8A-4147-A177-3AD203B41FA5}">
                      <a16:colId xmlns:a16="http://schemas.microsoft.com/office/drawing/2014/main" val="3994274855"/>
                    </a:ext>
                  </a:extLst>
                </a:gridCol>
                <a:gridCol w="1312169">
                  <a:extLst>
                    <a:ext uri="{9D8B030D-6E8A-4147-A177-3AD203B41FA5}">
                      <a16:colId xmlns:a16="http://schemas.microsoft.com/office/drawing/2014/main" val="237651838"/>
                    </a:ext>
                  </a:extLst>
                </a:gridCol>
              </a:tblGrid>
              <a:tr h="9546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</a:rPr>
                        <a:t>Thành viên</a:t>
                      </a:r>
                      <a:endParaRPr lang="en-US" sz="2200" b="1" kern="10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</a:rPr>
                        <a:t>MSSV</a:t>
                      </a:r>
                      <a:endParaRPr lang="en-US" sz="2200" b="1" kern="10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</a:rPr>
                        <a:t>Công việc</a:t>
                      </a:r>
                      <a:endParaRPr lang="en-US" sz="2200" b="1" kern="10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</a:rPr>
                        <a:t>Tỉ lệ đóng góp</a:t>
                      </a:r>
                      <a:endParaRPr lang="en-US" sz="2200" b="1" kern="10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24855" marR="124855" marT="0" marB="0"/>
                </a:tc>
                <a:extLst>
                  <a:ext uri="{0D108BD9-81ED-4DB2-BD59-A6C34878D82A}">
                    <a16:rowId xmlns:a16="http://schemas.microsoft.com/office/drawing/2014/main" val="3043611668"/>
                  </a:ext>
                </a:extLst>
              </a:tr>
              <a:tr h="9478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</a:rPr>
                        <a:t>Trần Duy Nguyên</a:t>
                      </a:r>
                      <a:endParaRPr lang="en-US" sz="2200" kern="10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</a:rPr>
                        <a:t>106220264</a:t>
                      </a:r>
                      <a:endParaRPr lang="en-US" sz="2200" kern="10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</a:rPr>
                        <a:t>Viết tài liệu lý thuyết ZigBee, mô tả hệ thống, phân tích mô hình NS-3</a:t>
                      </a:r>
                      <a:endParaRPr lang="en-US" sz="2200" kern="10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</a:rPr>
                        <a:t>33.3%</a:t>
                      </a:r>
                      <a:endParaRPr lang="en-US" sz="2200" kern="10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24855" marR="124855" marT="0" marB="0"/>
                </a:tc>
                <a:extLst>
                  <a:ext uri="{0D108BD9-81ED-4DB2-BD59-A6C34878D82A}">
                    <a16:rowId xmlns:a16="http://schemas.microsoft.com/office/drawing/2014/main" val="324274060"/>
                  </a:ext>
                </a:extLst>
              </a:tr>
              <a:tr h="9546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</a:rPr>
                        <a:t>Trần Viết Thắng</a:t>
                      </a:r>
                      <a:endParaRPr lang="en-US" sz="2200" kern="10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</a:rPr>
                        <a:t>106220234</a:t>
                      </a:r>
                      <a:endParaRPr lang="en-US" sz="2200" kern="10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</a:rPr>
                        <a:t>Xây dựng mô hình mô phỏng, viết code mô phỏng ZigBee trên NS-3, thu thập dữ liệu</a:t>
                      </a:r>
                      <a:endParaRPr lang="en-US" sz="2200" kern="10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</a:rPr>
                        <a:t>33.3%</a:t>
                      </a:r>
                      <a:endParaRPr lang="en-US" sz="2200" kern="10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24855" marR="124855" marT="0" marB="0"/>
                </a:tc>
                <a:extLst>
                  <a:ext uri="{0D108BD9-81ED-4DB2-BD59-A6C34878D82A}">
                    <a16:rowId xmlns:a16="http://schemas.microsoft.com/office/drawing/2014/main" val="1436939212"/>
                  </a:ext>
                </a:extLst>
              </a:tr>
              <a:tr h="12698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</a:rPr>
                        <a:t>Bùi Trịnh Thế Viên</a:t>
                      </a:r>
                      <a:endParaRPr lang="en-US" sz="2200" kern="10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</a:rPr>
                        <a:t>106220276</a:t>
                      </a:r>
                      <a:endParaRPr lang="en-US" sz="2200" kern="10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</a:rPr>
                        <a:t>Xử lý dữ liệu, trực quan hóa, phân tích kết quả và viết kết luận</a:t>
                      </a:r>
                      <a:endParaRPr lang="en-US" sz="2200" kern="10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</a:rPr>
                        <a:t>33.3%</a:t>
                      </a:r>
                      <a:endParaRPr lang="en-US" sz="2200" kern="10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24855" marR="124855" marT="0" marB="0"/>
                </a:tc>
                <a:extLst>
                  <a:ext uri="{0D108BD9-81ED-4DB2-BD59-A6C34878D82A}">
                    <a16:rowId xmlns:a16="http://schemas.microsoft.com/office/drawing/2014/main" val="209401792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DD94F67-9A1C-9AD7-BA50-8C59D8D022E6}"/>
              </a:ext>
            </a:extLst>
          </p:cNvPr>
          <p:cNvSpPr txBox="1"/>
          <p:nvPr/>
        </p:nvSpPr>
        <p:spPr>
          <a:xfrm>
            <a:off x="0" y="649892"/>
            <a:ext cx="46530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rgbClr val="383C5B"/>
                </a:solidFill>
              </a:rPr>
              <a:t>1. Phân công công việc</a:t>
            </a:r>
          </a:p>
        </p:txBody>
      </p:sp>
    </p:spTree>
    <p:extLst>
      <p:ext uri="{BB962C8B-B14F-4D97-AF65-F5344CB8AC3E}">
        <p14:creationId xmlns:p14="http://schemas.microsoft.com/office/powerpoint/2010/main" val="1089002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58FCED-6C45-2CB5-3F72-88F35DEF2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A313D18-C309-F64B-91C5-2C690B24DB4E}"/>
              </a:ext>
            </a:extLst>
          </p:cNvPr>
          <p:cNvSpPr txBox="1"/>
          <p:nvPr/>
        </p:nvSpPr>
        <p:spPr>
          <a:xfrm>
            <a:off x="0" y="649892"/>
            <a:ext cx="46530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rgbClr val="383C5B"/>
                </a:solidFill>
              </a:rPr>
              <a:t>2. Mục tiêu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E6CB5E2-CF94-1B33-EB2B-A7F9932C36E2}"/>
              </a:ext>
            </a:extLst>
          </p:cNvPr>
          <p:cNvSpPr txBox="1"/>
          <p:nvPr/>
        </p:nvSpPr>
        <p:spPr>
          <a:xfrm>
            <a:off x="3464293" y="1455765"/>
            <a:ext cx="6094070" cy="292124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err="1"/>
              <a:t>Xây</a:t>
            </a:r>
            <a:r>
              <a:rPr lang="en-US" sz="2200"/>
              <a:t> </a:t>
            </a:r>
            <a:r>
              <a:rPr lang="en-US" sz="2200" err="1"/>
              <a:t>dựng</a:t>
            </a:r>
            <a:r>
              <a:rPr lang="en-US" sz="2200"/>
              <a:t> </a:t>
            </a:r>
            <a:r>
              <a:rPr lang="en-US" sz="2200" err="1"/>
              <a:t>mô</a:t>
            </a:r>
            <a:r>
              <a:rPr lang="en-US" sz="2200"/>
              <a:t> </a:t>
            </a:r>
            <a:r>
              <a:rPr lang="en-US" sz="2200" err="1"/>
              <a:t>hình</a:t>
            </a:r>
            <a:r>
              <a:rPr lang="en-US" sz="2200"/>
              <a:t> ZigBee </a:t>
            </a:r>
            <a:r>
              <a:rPr lang="en-US" sz="2200" err="1"/>
              <a:t>trong</a:t>
            </a:r>
            <a:r>
              <a:rPr lang="en-US" sz="2200"/>
              <a:t> Smart Home</a:t>
            </a:r>
            <a:endParaRPr lang="vi-VN"/>
          </a:p>
          <a:p>
            <a:pPr>
              <a:lnSpc>
                <a:spcPct val="150000"/>
              </a:lnSpc>
            </a:pPr>
            <a:r>
              <a:rPr lang="en-US" sz="2200" err="1"/>
              <a:t>Đánh</a:t>
            </a:r>
            <a:r>
              <a:rPr lang="en-US" sz="2200"/>
              <a:t> </a:t>
            </a:r>
            <a:r>
              <a:rPr lang="en-US" sz="2200" err="1"/>
              <a:t>giá</a:t>
            </a:r>
            <a:r>
              <a:rPr lang="en-US" sz="2200"/>
              <a:t> </a:t>
            </a:r>
            <a:r>
              <a:rPr lang="en-US" sz="2200" err="1"/>
              <a:t>ảnh</a:t>
            </a:r>
            <a:r>
              <a:rPr lang="en-US" sz="2200"/>
              <a:t> </a:t>
            </a:r>
            <a:r>
              <a:rPr lang="en-US" sz="2200" err="1"/>
              <a:t>hưởng</a:t>
            </a:r>
            <a:r>
              <a:rPr lang="en-US" sz="2200"/>
              <a:t> </a:t>
            </a:r>
            <a:r>
              <a:rPr lang="en-US" sz="2200" err="1"/>
              <a:t>của</a:t>
            </a:r>
            <a:r>
              <a:rPr lang="en-US" sz="2200"/>
              <a:t>: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err="1"/>
              <a:t>Khoảng</a:t>
            </a:r>
            <a:r>
              <a:rPr lang="en-US" sz="2200"/>
              <a:t> </a:t>
            </a:r>
            <a:r>
              <a:rPr lang="en-US" sz="2200" err="1"/>
              <a:t>cách</a:t>
            </a:r>
            <a:endParaRPr lang="en-US" sz="2200"/>
          </a:p>
          <a:p>
            <a:pPr marL="285750" lvl="1" indent="-285750">
              <a:buFont typeface="Arial,Sans-Serif" panose="020B0604020202020204" pitchFamily="34" charset="0"/>
              <a:buChar char="•"/>
            </a:pPr>
            <a:r>
              <a:rPr lang="en-US" sz="2200" err="1"/>
              <a:t>Số</a:t>
            </a:r>
            <a:r>
              <a:rPr lang="en-US" sz="2200"/>
              <a:t> </a:t>
            </a:r>
            <a:r>
              <a:rPr lang="en-US" sz="2200" err="1"/>
              <a:t>lượng</a:t>
            </a:r>
            <a:r>
              <a:rPr lang="en-US" sz="2200"/>
              <a:t> node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/>
              <a:t>Noise + Fading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sz="2200"/>
              <a:t>Các </a:t>
            </a:r>
            <a:r>
              <a:rPr lang="en-US" sz="2200" err="1"/>
              <a:t>chỉ</a:t>
            </a:r>
            <a:r>
              <a:rPr lang="en-US" sz="2200"/>
              <a:t> </a:t>
            </a:r>
            <a:r>
              <a:rPr lang="en-US" sz="2200" err="1"/>
              <a:t>số</a:t>
            </a:r>
            <a:r>
              <a:rPr lang="en-US" sz="2200"/>
              <a:t> </a:t>
            </a:r>
            <a:r>
              <a:rPr lang="en-US" sz="2200" err="1"/>
              <a:t>phân</a:t>
            </a:r>
            <a:r>
              <a:rPr lang="en-US" sz="2200"/>
              <a:t> </a:t>
            </a:r>
            <a:r>
              <a:rPr lang="en-US" sz="2200" err="1"/>
              <a:t>tích</a:t>
            </a:r>
            <a:r>
              <a:rPr lang="en-US" sz="2200"/>
              <a:t>: PDR, SNR, Delay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39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2EB1E8-AE9F-5095-6E69-419EC2D9E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765F5EC-4B6A-AE06-8FE0-0FF067486D69}"/>
              </a:ext>
            </a:extLst>
          </p:cNvPr>
          <p:cNvSpPr txBox="1"/>
          <p:nvPr/>
        </p:nvSpPr>
        <p:spPr>
          <a:xfrm>
            <a:off x="0" y="649892"/>
            <a:ext cx="46530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rgbClr val="383C5B"/>
                </a:solidFill>
              </a:rPr>
              <a:t>3. Mô hình hệ thống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A78ACBC-8DD0-CBAA-9BA9-799B4FF7C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026" y="1663263"/>
            <a:ext cx="5702462" cy="353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3B7B90-2E65-AFCA-E765-BFB9151D5BB6}"/>
              </a:ext>
            </a:extLst>
          </p:cNvPr>
          <p:cNvSpPr txBox="1"/>
          <p:nvPr/>
        </p:nvSpPr>
        <p:spPr>
          <a:xfrm>
            <a:off x="802512" y="1883737"/>
            <a:ext cx="6094070" cy="309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/>
              <a:t>Mô hình gồm: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/>
              <a:t>1 Coordinator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/>
              <a:t>4 Router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/>
              <a:t>1 Sensor</a:t>
            </a:r>
          </a:p>
          <a:p>
            <a:pPr>
              <a:lnSpc>
                <a:spcPct val="150000"/>
              </a:lnSpc>
            </a:pPr>
            <a:r>
              <a:rPr lang="en-US" sz="2200"/>
              <a:t>Topology: Grid 3×2 – Many-to-One</a:t>
            </a:r>
          </a:p>
          <a:p>
            <a:pPr>
              <a:lnSpc>
                <a:spcPct val="150000"/>
              </a:lnSpc>
            </a:pPr>
            <a:r>
              <a:rPr lang="en-US" sz="2200"/>
              <a:t>Khoảng cách thay đổi 15–30 m</a:t>
            </a:r>
          </a:p>
        </p:txBody>
      </p:sp>
    </p:spTree>
    <p:extLst>
      <p:ext uri="{BB962C8B-B14F-4D97-AF65-F5344CB8AC3E}">
        <p14:creationId xmlns:p14="http://schemas.microsoft.com/office/powerpoint/2010/main" val="2721948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0C08C-EB69-FD3D-218F-C77E01248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2FAA085-ECD8-5EFF-8258-20F7D402FB61}"/>
              </a:ext>
            </a:extLst>
          </p:cNvPr>
          <p:cNvSpPr txBox="1"/>
          <p:nvPr/>
        </p:nvSpPr>
        <p:spPr>
          <a:xfrm>
            <a:off x="0" y="649892"/>
            <a:ext cx="51854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rgbClr val="383C5B"/>
                </a:solidFill>
              </a:rPr>
              <a:t>4. 4 điều kiện kênh truyền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5DEAC7-F049-9BB1-CC19-587E82324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405545"/>
              </p:ext>
            </p:extLst>
          </p:nvPr>
        </p:nvGraphicFramePr>
        <p:xfrm>
          <a:off x="838200" y="1651633"/>
          <a:ext cx="10515600" cy="2133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75331027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723514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959525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/>
                        <a:t>Noise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/>
                        <a:t>Fading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/>
                        <a:t>Ý </a:t>
                      </a:r>
                      <a:r>
                        <a:rPr lang="en-US" sz="2200" err="1"/>
                        <a:t>nghĩa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4130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2200"/>
                        <a:t>Lý tưởng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3673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err="1"/>
                        <a:t>Chỉ</a:t>
                      </a:r>
                      <a:r>
                        <a:rPr lang="en-US" sz="2200"/>
                        <a:t> Noise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957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err="1"/>
                        <a:t>Chỉ</a:t>
                      </a:r>
                      <a:r>
                        <a:rPr lang="en-US" sz="2200"/>
                        <a:t> Fading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6404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err="1"/>
                        <a:t>Thực</a:t>
                      </a:r>
                      <a:r>
                        <a:rPr lang="en-US" sz="2200"/>
                        <a:t> </a:t>
                      </a:r>
                      <a:r>
                        <a:rPr lang="en-US" sz="2200" err="1"/>
                        <a:t>tế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1354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5645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33E118-C04B-556A-D6E6-0BCBC29B1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C099C53-357D-D2A5-F688-14F917D3C3D8}"/>
              </a:ext>
            </a:extLst>
          </p:cNvPr>
          <p:cNvSpPr txBox="1"/>
          <p:nvPr/>
        </p:nvSpPr>
        <p:spPr>
          <a:xfrm>
            <a:off x="-1" y="649892"/>
            <a:ext cx="675961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rgbClr val="383C5B"/>
                </a:solidFill>
              </a:rPr>
              <a:t>5. </a:t>
            </a:r>
            <a:r>
              <a:rPr lang="vi-VN" sz="3200" b="1">
                <a:solidFill>
                  <a:srgbClr val="383C5B"/>
                </a:solidFill>
              </a:rPr>
              <a:t>Ảnh hưởng của khoảng cách (PDR/SNR/Delay)</a:t>
            </a:r>
            <a:endParaRPr lang="en-US" sz="3200" b="1">
              <a:solidFill>
                <a:srgbClr val="383C5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140650-48CB-4A4D-4784-1E00694BB31A}"/>
              </a:ext>
            </a:extLst>
          </p:cNvPr>
          <p:cNvSpPr txBox="1"/>
          <p:nvPr/>
        </p:nvSpPr>
        <p:spPr>
          <a:xfrm>
            <a:off x="415948" y="2476123"/>
            <a:ext cx="4538754" cy="2958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/>
              <a:t>PDR: Giảm mạnh khi có Fading (45% tại 30m – Realistic)</a:t>
            </a:r>
            <a:endParaRPr lang="en-US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/>
              <a:t>Noise hầu như không ảnh hưởng</a:t>
            </a:r>
            <a:endParaRPr lang="en-US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/>
              <a:t>SNR: Giảm từ 15 dB → 4 dB khi khoảng cách tăng</a:t>
            </a:r>
            <a:endParaRPr lang="en-US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/>
              <a:t>Delay tăng mạnh khi Noise + Fading (2.59 ms tại 30m)</a:t>
            </a:r>
            <a:endParaRPr lang="en-US"/>
          </a:p>
        </p:txBody>
      </p:sp>
      <p:pic>
        <p:nvPicPr>
          <p:cNvPr id="3" name="Picture 2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D1BBCDF0-63F6-17A0-52E6-65DD26EA0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818" y="1603974"/>
            <a:ext cx="6340234" cy="470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83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5BE1E9-67DE-2E80-EED4-727C79CC7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A0B3088-21FD-4CBC-6DE9-3116AB70AA9B}"/>
              </a:ext>
            </a:extLst>
          </p:cNvPr>
          <p:cNvSpPr txBox="1"/>
          <p:nvPr/>
        </p:nvSpPr>
        <p:spPr>
          <a:xfrm>
            <a:off x="-1" y="649892"/>
            <a:ext cx="67596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rgbClr val="383C5B"/>
                </a:solidFill>
              </a:rPr>
              <a:t>6. </a:t>
            </a:r>
            <a:r>
              <a:rPr lang="vi-VN" sz="3200" b="1">
                <a:solidFill>
                  <a:srgbClr val="383C5B"/>
                </a:solidFill>
              </a:rPr>
              <a:t>Ảnh hưởng của số node</a:t>
            </a:r>
            <a:endParaRPr lang="en-US" sz="3200" b="1">
              <a:solidFill>
                <a:srgbClr val="383C5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838E7F-051E-86D7-EEFB-29B341BC1E78}"/>
              </a:ext>
            </a:extLst>
          </p:cNvPr>
          <p:cNvSpPr txBox="1"/>
          <p:nvPr/>
        </p:nvSpPr>
        <p:spPr>
          <a:xfrm>
            <a:off x="635866" y="2365311"/>
            <a:ext cx="4538754" cy="2127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/>
              <a:t>PDR:</a:t>
            </a:r>
            <a:endParaRPr lang="en-US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/>
              <a:t>4 nodes → tối ưu</a:t>
            </a:r>
            <a:endParaRPr lang="en-US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/>
              <a:t>≥</a:t>
            </a:r>
            <a:r>
              <a:rPr lang="en-US"/>
              <a:t> </a:t>
            </a:r>
            <a:r>
              <a:rPr lang="vi-VN"/>
              <a:t>6 nodes → PDR giảm nhanh</a:t>
            </a:r>
            <a:endParaRPr lang="en-US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/>
              <a:t>8 nodes → Delay tăng đột biến</a:t>
            </a:r>
            <a:endParaRPr lang="en-US"/>
          </a:p>
          <a:p>
            <a:pPr algn="just">
              <a:lnSpc>
                <a:spcPct val="150000"/>
              </a:lnSpc>
            </a:pPr>
            <a:r>
              <a:rPr lang="vi-VN"/>
              <a:t>Điểm rơi hiệu năng: 4 nodes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A16C27-4211-73FD-80B7-E1E842008A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35818" y="1603974"/>
            <a:ext cx="6340233" cy="470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924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D05ED2-F7AC-1C18-EE04-98CF1D892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8B56DB9-62FA-7572-C638-6DAFB92E9002}"/>
              </a:ext>
            </a:extLst>
          </p:cNvPr>
          <p:cNvSpPr txBox="1"/>
          <p:nvPr/>
        </p:nvSpPr>
        <p:spPr>
          <a:xfrm>
            <a:off x="-1" y="649892"/>
            <a:ext cx="75119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rgbClr val="383C5B"/>
                </a:solidFill>
              </a:rPr>
              <a:t>7. </a:t>
            </a:r>
            <a:r>
              <a:rPr lang="vi-VN" sz="3200" b="1">
                <a:solidFill>
                  <a:srgbClr val="383C5B"/>
                </a:solidFill>
              </a:rPr>
              <a:t>Ảnh hưởng đồng thời (Heatmap)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E0DD7B-3582-1B65-C616-87440315ED18}"/>
              </a:ext>
            </a:extLst>
          </p:cNvPr>
          <p:cNvSpPr txBox="1"/>
          <p:nvPr/>
        </p:nvSpPr>
        <p:spPr>
          <a:xfrm>
            <a:off x="431157" y="2891621"/>
            <a:ext cx="3920924" cy="2127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/>
              <a:t>Lý tưởng/Noise: 100% toàn ma trận</a:t>
            </a:r>
            <a:endParaRPr lang="en-US"/>
          </a:p>
          <a:p>
            <a:pPr>
              <a:lnSpc>
                <a:spcPct val="150000"/>
              </a:lnSpc>
            </a:pPr>
            <a:r>
              <a:rPr lang="vi-VN"/>
              <a:t>Fading: giảm 6–24%</a:t>
            </a:r>
            <a:endParaRPr lang="en-US"/>
          </a:p>
          <a:p>
            <a:pPr>
              <a:lnSpc>
                <a:spcPct val="150000"/>
              </a:lnSpc>
            </a:pPr>
            <a:r>
              <a:rPr lang="vi-VN"/>
              <a:t>Realistic: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/>
              <a:t>Tốt nhất: 4 node – 15m: 96%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/>
              <a:t>Tệ nhất: 10 node – 30m: 43%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AD9B5C-52EF-582E-C25E-B294A3D16F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20886" y="1603974"/>
            <a:ext cx="6170097" cy="470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354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242295-10D4-7324-39E1-B33E4F58B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52F2A30-FD2B-676D-B9CE-BE9B4ABC0EF6}"/>
              </a:ext>
            </a:extLst>
          </p:cNvPr>
          <p:cNvSpPr txBox="1"/>
          <p:nvPr/>
        </p:nvSpPr>
        <p:spPr>
          <a:xfrm>
            <a:off x="-1" y="649892"/>
            <a:ext cx="75119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rgbClr val="383C5B"/>
                </a:solidFill>
              </a:rPr>
              <a:t>8. Phân tích tác động của từng yếu tố</a:t>
            </a:r>
            <a:endParaRPr lang="vi-VN" sz="3200" b="1">
              <a:solidFill>
                <a:srgbClr val="383C5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18FCBA-A923-CD1F-BB58-9F87D74E7D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10951" y="1667071"/>
            <a:ext cx="6170097" cy="457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667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D7192D-EA8C-2475-9812-A5A35B1DA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107A8BF-9674-1A27-A7E4-1B5E9B2E80AB}"/>
              </a:ext>
            </a:extLst>
          </p:cNvPr>
          <p:cNvSpPr txBox="1"/>
          <p:nvPr/>
        </p:nvSpPr>
        <p:spPr>
          <a:xfrm>
            <a:off x="-1" y="649892"/>
            <a:ext cx="28512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rgbClr val="383C5B"/>
                </a:solidFill>
              </a:rPr>
              <a:t>9. Kết luận</a:t>
            </a:r>
            <a:endParaRPr lang="vi-VN" sz="3200" b="1">
              <a:solidFill>
                <a:srgbClr val="383C5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65F541-27ED-872C-FB67-1175CB59B8B7}"/>
              </a:ext>
            </a:extLst>
          </p:cNvPr>
          <p:cNvSpPr txBox="1"/>
          <p:nvPr/>
        </p:nvSpPr>
        <p:spPr>
          <a:xfrm>
            <a:off x="2202083" y="2393107"/>
            <a:ext cx="8770716" cy="2071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/>
              <a:t>Fading là yếu tố gây suy giảm mạnh nhất</a:t>
            </a:r>
            <a:endParaRPr lang="en-US" sz="22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/>
              <a:t>4 nodes là cấu hình tối ưu</a:t>
            </a:r>
            <a:endParaRPr lang="en-US" sz="22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/>
              <a:t>Khoảng cách tốt nhất ≤ 20m</a:t>
            </a:r>
            <a:endParaRPr lang="en-US" sz="22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/>
              <a:t>Noise + Fading tạo hiệu ứng tăng cường làm PDR giảm tới 65%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724272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d0ec12-f8ec-4490-8ae1-467d048451b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AFCF4670CE3745BA504989B24FD943" ma:contentTypeVersion="15" ma:contentTypeDescription="Create a new document." ma:contentTypeScope="" ma:versionID="fb347f61548962f692f5b2cd4e9b3de8">
  <xsd:schema xmlns:xsd="http://www.w3.org/2001/XMLSchema" xmlns:xs="http://www.w3.org/2001/XMLSchema" xmlns:p="http://schemas.microsoft.com/office/2006/metadata/properties" xmlns:ns3="dad0ec12-f8ec-4490-8ae1-467d048451b7" xmlns:ns4="9af3a453-42f8-4e33-a47a-d8cffdb28839" targetNamespace="http://schemas.microsoft.com/office/2006/metadata/properties" ma:root="true" ma:fieldsID="451b8d6322afe0cb511b630be9ecac9a" ns3:_="" ns4:_="">
    <xsd:import namespace="dad0ec12-f8ec-4490-8ae1-467d048451b7"/>
    <xsd:import namespace="9af3a453-42f8-4e33-a47a-d8cffdb28839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0ec12-f8ec-4490-8ae1-467d048451b7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f3a453-42f8-4e33-a47a-d8cffdb28839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50F779-4B50-41FA-AAA4-8697C6BEA5A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99EAEE-452A-4024-A68E-575696728B57}">
  <ds:schemaRefs>
    <ds:schemaRef ds:uri="9af3a453-42f8-4e33-a47a-d8cffdb28839"/>
    <ds:schemaRef ds:uri="dad0ec12-f8ec-4490-8ae1-467d048451b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B81541C-93C1-4F1E-8AF8-0244C2ECFC9C}">
  <ds:schemaRefs>
    <ds:schemaRef ds:uri="9af3a453-42f8-4e33-a47a-d8cffdb28839"/>
    <ds:schemaRef ds:uri="dad0ec12-f8ec-4490-8ae1-467d048451b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Week_2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Trần Viết Thắng</dc:creator>
  <cp:revision>4</cp:revision>
  <dcterms:created xsi:type="dcterms:W3CDTF">2025-11-11T00:13:47Z</dcterms:created>
  <dcterms:modified xsi:type="dcterms:W3CDTF">2025-11-24T15:31:48Z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0x010100DAAFCF4670CE3745BA504989B24FD943</vt:lpwstr>
  </property>
</Properties>
</file>