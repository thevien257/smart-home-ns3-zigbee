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92" r:id="rId5"/>
    <p:sldId id="305" r:id="rId6"/>
    <p:sldId id="306" r:id="rId7"/>
    <p:sldId id="307" r:id="rId8"/>
    <p:sldId id="315" r:id="rId9"/>
    <p:sldId id="309" r:id="rId10"/>
    <p:sldId id="316" r:id="rId11"/>
    <p:sldId id="310" r:id="rId12"/>
    <p:sldId id="311" r:id="rId13"/>
    <p:sldId id="312" r:id="rId14"/>
    <p:sldId id="313" r:id="rId15"/>
    <p:sldId id="31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C48A84-2BEB-4687-92CB-9A35BA280FB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AB988-83E0-475F-9A40-6008A310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077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AB988-83E0-475F-9A40-6008A310DE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64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D8F14-EE0B-B4E2-6879-36B78C6BF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8246D2-C1AF-D6BA-5F6B-456B4209F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8CA11-9ACC-DD56-48C1-41676332F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83846-A308-CCC1-D0B1-967852D29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3229B-28A6-C774-4AEF-55210ED0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53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B261B-7A51-DDAA-CBBA-21937212F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AE30A-75F3-DF2F-0A00-53E6F4D1E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BB6FC-04FA-D744-A841-3FC8CA464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283D5-BDCE-2409-E18C-DC1E1B839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B763-6903-7A9E-94F5-8C95E503C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34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A4277-7B29-7746-2072-B0773CAAB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AE0AA-76A2-959F-D25D-29C44DF16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CAEAC-6A33-47FA-ADBC-33689F7FF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587FF-A90F-AB9B-D3BC-DA7D6D944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578E8-309A-1CEA-7FBF-EAC761E1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1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2858F-6F04-3C42-62C8-36EF5EAC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EFEAC-AE52-3FC8-4B59-453AED9DB5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FA08B-96AF-CA4F-6557-94DDECBA8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6A830-41E6-8D1E-4E4F-3FACDBB63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3B4AA-FA37-57C6-8E16-B27F5D3E8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85AA3-6F7F-67FD-D958-579BE9672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0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C1DD4-3EA3-28C2-024F-F33192953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F9548-AC4C-E9CD-2733-B22AAF8E8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5C5DE-A4ED-8B50-BF74-FE9E601A3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5A7D4D-CF2B-3C85-D6CC-3D1F815A7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7C4C89-B4A8-F654-AC6C-754DDD9276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12387C-BC66-5B12-8775-C7D4BCA29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FB896-2EE8-E723-AFD6-AF8F8CB03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580C79-DB49-E57C-CC6A-C67CF1EE6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89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8810C-EE81-5860-8EF2-46B05EEA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2CE15D-61F6-607D-D4CA-88F6F685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1F024-C715-ECA4-2531-927FFAB2A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25F20-643D-A17A-9BDF-33F4DD256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07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9FFBC5-15FF-A186-7C4D-EE3B367BA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5C30B-4009-9E54-A9AD-274F979FF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222E8-2309-5827-C8DA-B948127A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36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CB747-1947-2D78-5BA9-D69C9F2F9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2AD00-E975-9ADA-8576-DE656DEC3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08289-67BC-2277-8C4A-8B41930B6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DC7C4-32D2-C2D2-45D3-6E32E18D6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CD323-3F20-5549-7E7C-E74803CB2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89D85-9CED-AEE8-CE24-4B7E7210C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14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05189-F415-8AAF-8533-3C7375F5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86BB6F-14CB-A25C-CF7B-FAFE6E248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49F1B-0CA1-56CC-1426-54E1EB773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161C5-7982-8534-CE67-BEC76E2F2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C15E7-B35B-FCDE-6918-A223D50A2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894A6-5BC8-6C76-13F9-5A873BDF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5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80816-E111-9D1A-7A39-7F97E6A6E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37152-0C20-04BE-1539-1432DFFBE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8A6B1-E895-49B5-C44A-4523D086F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2A78B-473F-D9D9-7360-9E8E8F83E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BD9AD-2EB5-5396-EAB5-CE9F2E26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2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70DC34-A897-5654-7F1E-48050F6FA1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4DE8A-CF6C-5520-9CAB-7A78D2766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AF29D-2D7A-ED6B-8795-8C5F53701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2B9C-E191-44FC-91C7-29FE09B9A9E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FE73E-876D-27ED-FB72-02AECF67C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AA736-1FDA-004E-C518-4B79C7A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68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51AEC3-7B83-FA9E-64BB-79B28FDC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49688-7C1B-D3D7-FBFA-99F52D0FA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5DFE9-606D-E7BC-4FE1-871EB1F7BA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12B9C-E191-44FC-91C7-29FE09B9A9E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52A52-3E49-0C51-6D61-EAB74C50B8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89223-6665-267C-F28E-CD1C8F8A4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927F69-2548-4468-80F6-5EB00D24F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4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CF61D4-0B5C-B662-E6B8-7A9567F41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0AFAA2E-BD1C-FF3A-FDBC-87D1B1BEE6D1}"/>
              </a:ext>
            </a:extLst>
          </p:cNvPr>
          <p:cNvSpPr txBox="1"/>
          <p:nvPr/>
        </p:nvSpPr>
        <p:spPr>
          <a:xfrm>
            <a:off x="3048778" y="88104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vi-VN" b="1" i="0">
                <a:solidFill>
                  <a:srgbClr val="383C5B"/>
                </a:solidFill>
                <a:effectLst/>
                <a:latin typeface="+mj-lt"/>
              </a:rPr>
              <a:t>TRƯỜNG ĐẠI HỌC BÁCH KHOA - ĐẠI HỌC ĐÀ NẴNG</a:t>
            </a:r>
            <a:endParaRPr lang="vi-VN">
              <a:effectLst/>
              <a:latin typeface="+mj-lt"/>
            </a:endParaRPr>
          </a:p>
          <a:p>
            <a:pPr algn="ctr" rtl="0">
              <a:buNone/>
            </a:pPr>
            <a:r>
              <a:rPr lang="vi-VN" b="1" i="0">
                <a:solidFill>
                  <a:srgbClr val="383C5B"/>
                </a:solidFill>
                <a:effectLst/>
                <a:latin typeface="+mj-lt"/>
              </a:rPr>
              <a:t>KHOA ĐIỆN TỬ - VIỄN THÔNG</a:t>
            </a:r>
            <a:endParaRPr lang="vi-VN">
              <a:effectLst/>
              <a:latin typeface="+mj-lt"/>
            </a:endParaRPr>
          </a:p>
        </p:txBody>
      </p:sp>
      <p:pic>
        <p:nvPicPr>
          <p:cNvPr id="13" name="Picture 12" descr="A blue and yellow logo&#10;&#10;AI-generated content may be incorrect.">
            <a:extLst>
              <a:ext uri="{FF2B5EF4-FFF2-40B4-BE49-F238E27FC236}">
                <a16:creationId xmlns:a16="http://schemas.microsoft.com/office/drawing/2014/main" id="{98EAA2C7-8B7F-9E38-F0D0-75610BBCB0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520" y="200985"/>
            <a:ext cx="602564" cy="604344"/>
          </a:xfrm>
          <a:prstGeom prst="rect">
            <a:avLst/>
          </a:prstGeom>
        </p:spPr>
      </p:pic>
      <p:pic>
        <p:nvPicPr>
          <p:cNvPr id="16" name="Picture 15" descr="A logo of a company&#10;&#10;AI-generated content may be incorrect.">
            <a:extLst>
              <a:ext uri="{FF2B5EF4-FFF2-40B4-BE49-F238E27FC236}">
                <a16:creationId xmlns:a16="http://schemas.microsoft.com/office/drawing/2014/main" id="{E2BCFDC8-5224-82CA-D73B-FD8474325D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465" y="200985"/>
            <a:ext cx="604344" cy="60434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77E6201-F9A5-1360-352B-A2AE87253139}"/>
              </a:ext>
            </a:extLst>
          </p:cNvPr>
          <p:cNvSpPr txBox="1"/>
          <p:nvPr/>
        </p:nvSpPr>
        <p:spPr>
          <a:xfrm>
            <a:off x="3115430" y="1619294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3200" b="1" i="0">
                <a:solidFill>
                  <a:srgbClr val="383C5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Môn: </a:t>
            </a:r>
            <a:r>
              <a:rPr lang="en-US" sz="3200" b="1" i="0" err="1">
                <a:solidFill>
                  <a:srgbClr val="383C5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b="1" i="0">
                <a:solidFill>
                  <a:srgbClr val="383C5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0" err="1">
                <a:solidFill>
                  <a:srgbClr val="383C5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b="1" i="0">
                <a:solidFill>
                  <a:srgbClr val="383C5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0" err="1">
                <a:solidFill>
                  <a:srgbClr val="383C5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endParaRPr lang="en-US" sz="320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A0940A-0A31-540E-29F7-D8E99182AC5B}"/>
              </a:ext>
            </a:extLst>
          </p:cNvPr>
          <p:cNvSpPr txBox="1"/>
          <p:nvPr/>
        </p:nvSpPr>
        <p:spPr>
          <a:xfrm>
            <a:off x="-227616" y="2393084"/>
            <a:ext cx="12780159" cy="11695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35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Khảo </a:t>
            </a:r>
            <a:r>
              <a:rPr lang="en-US" sz="35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35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5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5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5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nhiễu</a:t>
            </a:r>
            <a:r>
              <a:rPr lang="en-US" sz="35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5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5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35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Fading </a:t>
            </a:r>
            <a:r>
              <a:rPr lang="en-US" sz="35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5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5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5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5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ZigBee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782328-9C19-AC2E-442E-146E48F05F56}"/>
              </a:ext>
            </a:extLst>
          </p:cNvPr>
          <p:cNvSpPr txBox="1"/>
          <p:nvPr/>
        </p:nvSpPr>
        <p:spPr>
          <a:xfrm>
            <a:off x="2556854" y="3742664"/>
            <a:ext cx="72112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sz="3200" b="1" i="0">
                <a:solidFill>
                  <a:srgbClr val="383C5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SVTH:  </a:t>
            </a:r>
            <a:r>
              <a:rPr lang="en-US" sz="3200" b="0" i="0">
                <a:solidFill>
                  <a:srgbClr val="383C5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Trần Duy Nguyên    - 106220264</a:t>
            </a:r>
          </a:p>
          <a:p>
            <a:pPr algn="l" rtl="0">
              <a:buNone/>
            </a:pPr>
            <a:r>
              <a:rPr lang="en-US" sz="3200" b="0" i="0">
                <a:solidFill>
                  <a:srgbClr val="383C5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	     Trần Viết Thắng       - 106220234 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>
              <a:buNone/>
            </a:pPr>
            <a:r>
              <a:rPr lang="en-US" sz="3200" b="0" i="0">
                <a:solidFill>
                  <a:srgbClr val="383C5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	     Bùi Trịnh </a:t>
            </a:r>
            <a:r>
              <a:rPr lang="en-US" sz="3200" b="0" i="0" err="1">
                <a:solidFill>
                  <a:srgbClr val="383C5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b="0" i="0">
                <a:solidFill>
                  <a:srgbClr val="383C5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Viên  - 106220276</a:t>
            </a:r>
            <a:endParaRPr lang="en-US" sz="320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160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791630-EF6C-76C2-3D16-A1C6D7293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D74CA2-E30D-D183-B1A4-667497C89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903644"/>
              </p:ext>
            </p:extLst>
          </p:nvPr>
        </p:nvGraphicFramePr>
        <p:xfrm>
          <a:off x="623103" y="1616052"/>
          <a:ext cx="10945793" cy="412699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86674">
                  <a:extLst>
                    <a:ext uri="{9D8B030D-6E8A-4147-A177-3AD203B41FA5}">
                      <a16:colId xmlns:a16="http://schemas.microsoft.com/office/drawing/2014/main" val="3477297062"/>
                    </a:ext>
                  </a:extLst>
                </a:gridCol>
                <a:gridCol w="1946388">
                  <a:extLst>
                    <a:ext uri="{9D8B030D-6E8A-4147-A177-3AD203B41FA5}">
                      <a16:colId xmlns:a16="http://schemas.microsoft.com/office/drawing/2014/main" val="1817959777"/>
                    </a:ext>
                  </a:extLst>
                </a:gridCol>
                <a:gridCol w="5800562">
                  <a:extLst>
                    <a:ext uri="{9D8B030D-6E8A-4147-A177-3AD203B41FA5}">
                      <a16:colId xmlns:a16="http://schemas.microsoft.com/office/drawing/2014/main" val="3994274855"/>
                    </a:ext>
                  </a:extLst>
                </a:gridCol>
                <a:gridCol w="1312169">
                  <a:extLst>
                    <a:ext uri="{9D8B030D-6E8A-4147-A177-3AD203B41FA5}">
                      <a16:colId xmlns:a16="http://schemas.microsoft.com/office/drawing/2014/main" val="237651838"/>
                    </a:ext>
                  </a:extLst>
                </a:gridCol>
              </a:tblGrid>
              <a:tr h="9546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Thành viên</a:t>
                      </a:r>
                      <a:endParaRPr lang="en-US" sz="2200" b="1" kern="100"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MSSV</a:t>
                      </a:r>
                      <a:endParaRPr lang="en-US" sz="2200" b="1" kern="100"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Công việc</a:t>
                      </a:r>
                      <a:endParaRPr lang="en-US" sz="2200" b="1" kern="100"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Tỉ lệ đóng góp</a:t>
                      </a:r>
                      <a:endParaRPr lang="en-US" sz="2200" b="1" kern="100"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124855" marR="124855" marT="0" marB="0"/>
                </a:tc>
                <a:extLst>
                  <a:ext uri="{0D108BD9-81ED-4DB2-BD59-A6C34878D82A}">
                    <a16:rowId xmlns:a16="http://schemas.microsoft.com/office/drawing/2014/main" val="3043611668"/>
                  </a:ext>
                </a:extLst>
              </a:tr>
              <a:tr h="9478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Trần Duy Nguyên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106220264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Viết tài liệu lý thuyết ZigBee, mô tả hệ thống, phân tích mô hình NS-3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33.3%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124855" marR="124855" marT="0" marB="0"/>
                </a:tc>
                <a:extLst>
                  <a:ext uri="{0D108BD9-81ED-4DB2-BD59-A6C34878D82A}">
                    <a16:rowId xmlns:a16="http://schemas.microsoft.com/office/drawing/2014/main" val="324274060"/>
                  </a:ext>
                </a:extLst>
              </a:tr>
              <a:tr h="9546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Trần Viết Thắng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106220234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Xây dựng mô hình mô phỏng, viết code mô phỏng ZigBee trên NS-3, thu thập dữ liệu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33.3%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124855" marR="124855" marT="0" marB="0"/>
                </a:tc>
                <a:extLst>
                  <a:ext uri="{0D108BD9-81ED-4DB2-BD59-A6C34878D82A}">
                    <a16:rowId xmlns:a16="http://schemas.microsoft.com/office/drawing/2014/main" val="1436939212"/>
                  </a:ext>
                </a:extLst>
              </a:tr>
              <a:tr h="12698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Bùi Trịnh Thế Viên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106220276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Xử lý dữ liệu, trực quan hóa, phân tích kết quả và viết kết luận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124855" marR="1248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33.3%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124855" marR="124855" marT="0" marB="0"/>
                </a:tc>
                <a:extLst>
                  <a:ext uri="{0D108BD9-81ED-4DB2-BD59-A6C34878D82A}">
                    <a16:rowId xmlns:a16="http://schemas.microsoft.com/office/drawing/2014/main" val="209401792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DD94F67-9A1C-9AD7-BA50-8C59D8D022E6}"/>
              </a:ext>
            </a:extLst>
          </p:cNvPr>
          <p:cNvSpPr txBox="1"/>
          <p:nvPr/>
        </p:nvSpPr>
        <p:spPr>
          <a:xfrm>
            <a:off x="0" y="649892"/>
            <a:ext cx="46530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Phân công công việc</a:t>
            </a:r>
          </a:p>
        </p:txBody>
      </p:sp>
    </p:spTree>
    <p:extLst>
      <p:ext uri="{BB962C8B-B14F-4D97-AF65-F5344CB8AC3E}">
        <p14:creationId xmlns:p14="http://schemas.microsoft.com/office/powerpoint/2010/main" val="1089002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58FCED-6C45-2CB5-3F72-88F35DEF2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A313D18-C309-F64B-91C5-2C690B24DB4E}"/>
              </a:ext>
            </a:extLst>
          </p:cNvPr>
          <p:cNvSpPr txBox="1"/>
          <p:nvPr/>
        </p:nvSpPr>
        <p:spPr>
          <a:xfrm>
            <a:off x="-599768" y="41949"/>
            <a:ext cx="77674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phỏng</a:t>
            </a:r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E6CB5E2-CF94-1B33-EB2B-A7F9932C36E2}"/>
              </a:ext>
            </a:extLst>
          </p:cNvPr>
          <p:cNvSpPr txBox="1"/>
          <p:nvPr/>
        </p:nvSpPr>
        <p:spPr>
          <a:xfrm>
            <a:off x="478047" y="744711"/>
            <a:ext cx="4221773" cy="46020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Đánh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Nhiễu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Gaussian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Fading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Delivery Ratio (PDR) 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Signal-to-Noise Ratio (SNR)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trễ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(Delay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F17195-B84A-99F0-6DDB-E4F8980A6444}"/>
              </a:ext>
            </a:extLst>
          </p:cNvPr>
          <p:cNvSpPr txBox="1"/>
          <p:nvPr/>
        </p:nvSpPr>
        <p:spPr>
          <a:xfrm>
            <a:off x="5365800" y="744710"/>
            <a:ext cx="6538450" cy="4602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2200" b="1" dirty="0">
                <a:latin typeface="+mj-lt"/>
              </a:rPr>
              <a:t>Quy trình mô phỏng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vi-VN" sz="2200" dirty="0">
                <a:latin typeface="+mj-lt"/>
              </a:rPr>
              <a:t>Khởi tạo mạng ZigBee và vai trò các node.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vi-VN" sz="2200" dirty="0">
                <a:latin typeface="+mj-lt"/>
              </a:rPr>
              <a:t>Đặt node theo </a:t>
            </a:r>
            <a:r>
              <a:rPr lang="vi-VN" sz="2200" b="1" dirty="0">
                <a:latin typeface="+mj-lt"/>
              </a:rPr>
              <a:t>lưới 3×2</a:t>
            </a:r>
            <a:r>
              <a:rPr lang="vi-VN" sz="2200" dirty="0">
                <a:latin typeface="+mj-lt"/>
              </a:rPr>
              <a:t>, tùy chỉnh khoảng cách.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vi-VN" sz="2200" dirty="0">
                <a:latin typeface="+mj-lt"/>
              </a:rPr>
              <a:t>Thiết lập mô hình kênh: </a:t>
            </a:r>
            <a:r>
              <a:rPr lang="vi-VN" sz="2200" b="1" dirty="0">
                <a:latin typeface="+mj-lt"/>
              </a:rPr>
              <a:t>Path Loss – Gaussian Noise – Rayleigh Fading</a:t>
            </a:r>
            <a:r>
              <a:rPr lang="vi-VN" sz="2200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vi-VN" sz="2200" dirty="0">
                <a:latin typeface="+mj-lt"/>
              </a:rPr>
              <a:t>Node 5 truyền dữ liệu định kỳ về Coordinator.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vi-VN" sz="2200" dirty="0">
                <a:latin typeface="+mj-lt"/>
              </a:rPr>
              <a:t>ZigBee tự động routing.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vi-VN" sz="2200" dirty="0">
                <a:latin typeface="+mj-lt"/>
              </a:rPr>
              <a:t>Thu thập dữ liệu: gói gửi/nhận/mất, SNR, PDR, delay.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vi-VN" sz="2200" dirty="0">
                <a:latin typeface="+mj-lt"/>
              </a:rPr>
              <a:t>Xuất kết quả ra CSV để phân tích.</a:t>
            </a:r>
          </a:p>
        </p:txBody>
      </p:sp>
    </p:spTree>
    <p:extLst>
      <p:ext uri="{BB962C8B-B14F-4D97-AF65-F5344CB8AC3E}">
        <p14:creationId xmlns:p14="http://schemas.microsoft.com/office/powerpoint/2010/main" val="1535139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2EB1E8-AE9F-5095-6E69-419EC2D9E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765F5EC-4B6A-AE06-8FE0-0FF067486D69}"/>
              </a:ext>
            </a:extLst>
          </p:cNvPr>
          <p:cNvSpPr txBox="1"/>
          <p:nvPr/>
        </p:nvSpPr>
        <p:spPr>
          <a:xfrm>
            <a:off x="0" y="173779"/>
            <a:ext cx="46530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b="1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b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b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3200" b="1">
              <a:solidFill>
                <a:srgbClr val="383C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A78ACBC-8DD0-CBAA-9BA9-799B4FF7C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719" y="758554"/>
            <a:ext cx="5702462" cy="353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3B7B90-2E65-AFCA-E765-BFB9151D5BB6}"/>
              </a:ext>
            </a:extLst>
          </p:cNvPr>
          <p:cNvSpPr txBox="1"/>
          <p:nvPr/>
        </p:nvSpPr>
        <p:spPr>
          <a:xfrm>
            <a:off x="577662" y="941203"/>
            <a:ext cx="5165057" cy="309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Coordinator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Router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Sensor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Topology: Grid 3×2 – Many-to-One</a:t>
            </a:r>
          </a:p>
          <a:p>
            <a:pPr>
              <a:lnSpc>
                <a:spcPct val="150000"/>
              </a:lnSpc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15–30 m</a:t>
            </a:r>
          </a:p>
        </p:txBody>
      </p:sp>
    </p:spTree>
    <p:extLst>
      <p:ext uri="{BB962C8B-B14F-4D97-AF65-F5344CB8AC3E}">
        <p14:creationId xmlns:p14="http://schemas.microsoft.com/office/powerpoint/2010/main" val="2721948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AA296-70AC-1CCA-56FE-9987F8A2B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FD51D99-62FE-C4FD-6490-0535299972CC}"/>
              </a:ext>
            </a:extLst>
          </p:cNvPr>
          <p:cNvSpPr txBox="1"/>
          <p:nvPr/>
        </p:nvSpPr>
        <p:spPr>
          <a:xfrm>
            <a:off x="0" y="99286"/>
            <a:ext cx="46530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b="1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b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b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3200" b="1">
              <a:solidFill>
                <a:srgbClr val="383C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FF34ED-9E33-7A85-2CA3-4B30EA995BD7}"/>
              </a:ext>
            </a:extLst>
          </p:cNvPr>
          <p:cNvSpPr txBox="1"/>
          <p:nvPr/>
        </p:nvSpPr>
        <p:spPr>
          <a:xfrm>
            <a:off x="894735" y="497248"/>
            <a:ext cx="9576619" cy="6125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Vai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trò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từng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node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Node 0 – Coordinator / Sink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Là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trung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tâm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của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mạng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Thu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thập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dữ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liệu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từ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các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node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khác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Quản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lý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địa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chỉ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và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điều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khiển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luồng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dữ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liệu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Node 1, 2, 3, 4 – Router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Trung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chuyển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gói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tin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theo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topology Many-to-One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Đóng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vai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trò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làm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mesh forwarding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khi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Sensor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không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thể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gửi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trực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tiếp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Node 5 – Sensor Node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Thiết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bị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cảm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biến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mô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phỏng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(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ví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dụ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: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cảm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biến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nhiệt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độ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hoặc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chuyển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động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)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Là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nguồn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sinh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dữ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liệu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chính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trong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mô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phỏng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Gửi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dữ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liệu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định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kỳ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về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Nunito" pitchFamily="2" charset="0"/>
              </a:rPr>
              <a:t> Coordinator.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102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0C08C-EB69-FD3D-218F-C77E01248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2FAA085-ECD8-5EFF-8258-20F7D402FB61}"/>
              </a:ext>
            </a:extLst>
          </p:cNvPr>
          <p:cNvSpPr txBox="1"/>
          <p:nvPr/>
        </p:nvSpPr>
        <p:spPr>
          <a:xfrm>
            <a:off x="-226143" y="109118"/>
            <a:ext cx="51854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endParaRPr lang="en-US" sz="3200" b="1" dirty="0">
              <a:solidFill>
                <a:srgbClr val="383C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BA04F8-4CE2-7FDE-65F5-C121CD1A70FC}"/>
              </a:ext>
            </a:extLst>
          </p:cNvPr>
          <p:cNvSpPr txBox="1"/>
          <p:nvPr/>
        </p:nvSpPr>
        <p:spPr>
          <a:xfrm>
            <a:off x="97867" y="3324210"/>
            <a:ext cx="6572633" cy="29092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Nhiễu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Guassian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hổ biến trong hệ thống truyền thông không dây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Gaussian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phẳng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(white):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phẳng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Ngẫu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80854B-C180-BDA4-5C6F-E51D12C47DBC}"/>
              </a:ext>
            </a:extLst>
          </p:cNvPr>
          <p:cNvSpPr txBox="1"/>
          <p:nvPr/>
        </p:nvSpPr>
        <p:spPr>
          <a:xfrm>
            <a:off x="97867" y="693893"/>
            <a:ext cx="5732660" cy="24014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Rayleigh fading: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(multipath)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tuân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Rayleigh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77625A-B4FC-240E-40D0-4803A2A43FB1}"/>
              </a:ext>
            </a:extLst>
          </p:cNvPr>
          <p:cNvSpPr txBox="1"/>
          <p:nvPr/>
        </p:nvSpPr>
        <p:spPr>
          <a:xfrm>
            <a:off x="5904727" y="693893"/>
            <a:ext cx="6189406" cy="291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 err="1">
                <a:latin typeface="Times New Roman" panose="02020603050405020304" pitchFamily="18" charset="0"/>
                <a:ea typeface="Nunito" pitchFamily="2" charset="0"/>
              </a:rPr>
              <a:t>T</a:t>
            </a:r>
            <a:r>
              <a:rPr lang="en-US" sz="2200" b="1" dirty="0" err="1">
                <a:effectLst/>
                <a:latin typeface="Times New Roman" panose="02020603050405020304" pitchFamily="18" charset="0"/>
                <a:ea typeface="Nunito" pitchFamily="2" charset="0"/>
              </a:rPr>
              <a:t>ổn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Nunito" pitchFamily="2" charset="0"/>
              </a:rPr>
              <a:t> hao </a:t>
            </a:r>
            <a:r>
              <a:rPr lang="en-US" sz="2200" b="1" dirty="0" err="1">
                <a:effectLst/>
                <a:latin typeface="Times New Roman" panose="02020603050405020304" pitchFamily="18" charset="0"/>
                <a:ea typeface="Nunito" pitchFamily="2" charset="0"/>
              </a:rPr>
              <a:t>đường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Nunito" pitchFamily="2" charset="0"/>
              </a:rPr>
              <a:t> </a:t>
            </a:r>
            <a:r>
              <a:rPr lang="en-US" sz="2200" b="1" dirty="0" err="1">
                <a:effectLst/>
                <a:latin typeface="Times New Roman" panose="02020603050405020304" pitchFamily="18" charset="0"/>
                <a:ea typeface="Nunito" pitchFamily="2" charset="0"/>
              </a:rPr>
              <a:t>truyền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Nunito" pitchFamily="2" charset="0"/>
              </a:rPr>
              <a:t>:</a:t>
            </a:r>
          </a:p>
          <a:p>
            <a:pPr marL="347472" indent="-34747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Suy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472" lvl="0" indent="-34747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Suy hao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472" lvl="0" indent="-34747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Hấp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thụ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472" lvl="0" indent="-34747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Tán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nhiễu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472" lvl="0" indent="-34747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tường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65645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DB17DF-F79E-8A90-DB1C-67C1AA7D5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E6355B8-EA8C-408E-4E54-60B72B860959}"/>
              </a:ext>
            </a:extLst>
          </p:cNvPr>
          <p:cNvSpPr txBox="1"/>
          <p:nvPr/>
        </p:nvSpPr>
        <p:spPr>
          <a:xfrm>
            <a:off x="-78658" y="79621"/>
            <a:ext cx="51854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b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3200" b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b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endParaRPr lang="en-US" sz="3200" b="1">
              <a:solidFill>
                <a:srgbClr val="383C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9912AF-4C72-F594-87FB-14AF0F7735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046103"/>
              </p:ext>
            </p:extLst>
          </p:nvPr>
        </p:nvGraphicFramePr>
        <p:xfrm>
          <a:off x="749710" y="815891"/>
          <a:ext cx="10515600" cy="2133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75331027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723514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959525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Ý </a:t>
                      </a:r>
                      <a:r>
                        <a:rPr lang="en-US" sz="22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nghĩa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4130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 tưởng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3673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957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Fading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6404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tế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1354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430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33E118-C04B-556A-D6E6-0BCBC29B1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C099C53-357D-D2A5-F688-14F917D3C3D8}"/>
              </a:ext>
            </a:extLst>
          </p:cNvPr>
          <p:cNvSpPr txBox="1"/>
          <p:nvPr/>
        </p:nvSpPr>
        <p:spPr>
          <a:xfrm>
            <a:off x="-1428670" y="-46825"/>
            <a:ext cx="117987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vi-VN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 hưởng của khoảng cách (PDR/SNR/Delay)</a:t>
            </a:r>
            <a:endParaRPr lang="en-US" sz="3200" b="1" dirty="0">
              <a:solidFill>
                <a:srgbClr val="383C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140650-48CB-4A4D-4784-1E00694BB31A}"/>
              </a:ext>
            </a:extLst>
          </p:cNvPr>
          <p:cNvSpPr txBox="1"/>
          <p:nvPr/>
        </p:nvSpPr>
        <p:spPr>
          <a:xfrm>
            <a:off x="68825" y="537950"/>
            <a:ext cx="5714116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Khảo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PDR: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:→ PDR = 100% ở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Fading → PDR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72%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PDR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45%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30m.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Khảo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SNR: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SNR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nhiễu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105–117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nhiễu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4–15 dB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Khảo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Delay: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trễ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xấp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xỉ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2.39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trễ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</p:txBody>
      </p:sp>
      <p:pic>
        <p:nvPicPr>
          <p:cNvPr id="3" name="Picture 2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D1BBCDF0-63F6-17A0-52E6-65DD26EA0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941" y="537950"/>
            <a:ext cx="6340234" cy="470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83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5BE1E9-67DE-2E80-EED4-727C79CC7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A0B3088-21FD-4CBC-6DE9-3116AB70AA9B}"/>
              </a:ext>
            </a:extLst>
          </p:cNvPr>
          <p:cNvSpPr txBox="1"/>
          <p:nvPr/>
        </p:nvSpPr>
        <p:spPr>
          <a:xfrm>
            <a:off x="-1418460" y="0"/>
            <a:ext cx="107787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vi-VN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 hưởng của số node</a:t>
            </a:r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(PDR/SNR/Delay)</a:t>
            </a:r>
            <a:endParaRPr lang="en-US" sz="3200" b="1" dirty="0">
              <a:solidFill>
                <a:srgbClr val="383C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838E7F-051E-86D7-EEFB-29B341BC1E78}"/>
              </a:ext>
            </a:extLst>
          </p:cNvPr>
          <p:cNvSpPr txBox="1"/>
          <p:nvPr/>
        </p:nvSpPr>
        <p:spPr>
          <a:xfrm>
            <a:off x="0" y="584775"/>
            <a:ext cx="5969862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Khảo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PDR: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Lý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Noise: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PDR = 100%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Fading : PDR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94% (4 node)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72%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tiễn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PDR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86%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node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~61%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node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Khảo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SNR: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Lý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Fading: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SNR dao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120 dB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117 dB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nhiễu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SNR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 dB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Khảo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Delay: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8 nodes (delay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“congestions” 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nodes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nodes delay ở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A16C27-4211-73FD-80B7-E1E842008A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69862" y="584775"/>
            <a:ext cx="6222138" cy="461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924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D05ED2-F7AC-1C18-EE04-98CF1D89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8B56DB9-62FA-7572-C638-6DAFB92E9002}"/>
              </a:ext>
            </a:extLst>
          </p:cNvPr>
          <p:cNvSpPr txBox="1"/>
          <p:nvPr/>
        </p:nvSpPr>
        <p:spPr>
          <a:xfrm>
            <a:off x="-629265" y="0"/>
            <a:ext cx="75119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vi-VN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 hưởng đồng thời (Heatmap)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AD9B5C-52EF-582E-C25E-B294A3D16F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90231" y="556505"/>
            <a:ext cx="5901769" cy="4498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88487E-ADE9-BA06-4409-0FD3489BC56A}"/>
              </a:ext>
            </a:extLst>
          </p:cNvPr>
          <p:cNvSpPr txBox="1"/>
          <p:nvPr/>
        </p:nvSpPr>
        <p:spPr>
          <a:xfrm>
            <a:off x="0" y="670924"/>
            <a:ext cx="641063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Môi trường lý tưởng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PDR luôn 100%, không bị ảnh hưởng bởi số node hay khoảng cách.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Chỉ Gaussian Noise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PDR vẫn 100%, chứng tỏ Gaussian noise hầu như không tác động.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Chỉ Rayleigh Fading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PDR giảm dần khi: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Khoảng cách tăng (từ 15 → 30 m)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Số node tăng (4 → 10 node).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Fading gây suy giảm rõ rệt, đặc biệt &gt; 25 m.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tiễn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PDR giảm mạnh nhất: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m: còn ~87–96%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m: ~74–92%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 m: ~60–86%30 m: chỉ còn ~43–78%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Suy giảm nặng khi vừa xa vừa nhiều node (8–10 node).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354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242295-10D4-7324-39E1-B33E4F58B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52F2A30-FD2B-676D-B9CE-BE9B4ABC0EF6}"/>
              </a:ext>
            </a:extLst>
          </p:cNvPr>
          <p:cNvSpPr txBox="1"/>
          <p:nvPr/>
        </p:nvSpPr>
        <p:spPr>
          <a:xfrm>
            <a:off x="-467274" y="0"/>
            <a:ext cx="75119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sz="32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3200" b="1" dirty="0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endParaRPr lang="vi-VN" sz="3200" b="1" dirty="0">
              <a:solidFill>
                <a:srgbClr val="383C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18FCBA-A923-CD1F-BB58-9F87D74E7D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21903" y="693893"/>
            <a:ext cx="6170097" cy="4576478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23226B6-5879-4AEB-CB4A-369A081BC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019692"/>
              </p:ext>
            </p:extLst>
          </p:nvPr>
        </p:nvGraphicFramePr>
        <p:xfrm>
          <a:off x="159595" y="775794"/>
          <a:ext cx="5614219" cy="2462186"/>
        </p:xfrm>
        <a:graphic>
          <a:graphicData uri="http://schemas.openxmlformats.org/drawingml/2006/table">
            <a:tbl>
              <a:tblPr firstRow="1" firstCol="1" bandRow="1"/>
              <a:tblGrid>
                <a:gridCol w="2689940">
                  <a:extLst>
                    <a:ext uri="{9D8B030D-6E8A-4147-A177-3AD203B41FA5}">
                      <a16:colId xmlns:a16="http://schemas.microsoft.com/office/drawing/2014/main" val="3804769490"/>
                    </a:ext>
                  </a:extLst>
                </a:gridCol>
                <a:gridCol w="2924279">
                  <a:extLst>
                    <a:ext uri="{9D8B030D-6E8A-4147-A177-3AD203B41FA5}">
                      <a16:colId xmlns:a16="http://schemas.microsoft.com/office/drawing/2014/main" val="1364199368"/>
                    </a:ext>
                  </a:extLst>
                </a:gridCol>
              </a:tblGrid>
              <a:tr h="38365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2200" b="1" kern="100">
                          <a:effectLst/>
                          <a:latin typeface="Times New Roman" panose="02020603050405020304" pitchFamily="18" charset="0"/>
                          <a:ea typeface="Noto Serif CJK SC"/>
                          <a:cs typeface="Times New Roman" panose="02020603050405020304" pitchFamily="18" charset="0"/>
                        </a:rPr>
                        <a:t>Điều kiện</a:t>
                      </a:r>
                    </a:p>
                  </a:txBody>
                  <a:tcPr marL="22343" marR="22343" marT="22343" marB="2234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2200" b="1" kern="100">
                          <a:effectLst/>
                          <a:latin typeface="Times New Roman" panose="02020603050405020304" pitchFamily="18" charset="0"/>
                          <a:ea typeface="Noto Serif CJK SC"/>
                          <a:cs typeface="Times New Roman" panose="02020603050405020304" pitchFamily="18" charset="0"/>
                        </a:rPr>
                        <a:t>Giảm PDR trung bình</a:t>
                      </a:r>
                    </a:p>
                  </a:txBody>
                  <a:tcPr marL="22343" marR="22343" marT="22343" marB="2234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526413"/>
                  </a:ext>
                </a:extLst>
              </a:tr>
              <a:tr h="38365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ea typeface="Noto Serif CJK SC"/>
                          <a:cs typeface="Times New Roman" panose="02020603050405020304" pitchFamily="18" charset="0"/>
                        </a:rPr>
                        <a:t>Lý tưởng</a:t>
                      </a:r>
                    </a:p>
                  </a:txBody>
                  <a:tcPr marL="22343" marR="22343" marT="22343" marB="2234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ea typeface="Noto Serif CJK SC"/>
                          <a:cs typeface="Times New Roman" panose="02020603050405020304" pitchFamily="18" charset="0"/>
                        </a:rPr>
                        <a:t>0%</a:t>
                      </a:r>
                    </a:p>
                  </a:txBody>
                  <a:tcPr marL="22343" marR="22343" marT="22343" marB="2234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644646"/>
                  </a:ext>
                </a:extLst>
              </a:tr>
              <a:tr h="38365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ea typeface="Noto Serif CJK SC"/>
                          <a:cs typeface="Times New Roman" panose="02020603050405020304" pitchFamily="18" charset="0"/>
                        </a:rPr>
                        <a:t>Chỉ có nhiễu</a:t>
                      </a:r>
                    </a:p>
                  </a:txBody>
                  <a:tcPr marL="22343" marR="22343" marT="22343" marB="2234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ea typeface="Noto Serif CJK SC"/>
                          <a:cs typeface="Times New Roman" panose="02020603050405020304" pitchFamily="18" charset="0"/>
                        </a:rPr>
                        <a:t>0%</a:t>
                      </a:r>
                    </a:p>
                  </a:txBody>
                  <a:tcPr marL="22343" marR="22343" marT="22343" marB="2234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322123"/>
                  </a:ext>
                </a:extLst>
              </a:tr>
              <a:tr h="38365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ea typeface="Noto Serif CJK SC"/>
                          <a:cs typeface="Times New Roman" panose="02020603050405020304" pitchFamily="18" charset="0"/>
                        </a:rPr>
                        <a:t>Chỉ có hiện tượng Fading</a:t>
                      </a:r>
                    </a:p>
                  </a:txBody>
                  <a:tcPr marL="22343" marR="22343" marT="22343" marB="2234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2200" kern="100" dirty="0">
                          <a:effectLst/>
                          <a:latin typeface="Times New Roman" panose="02020603050405020304" pitchFamily="18" charset="0"/>
                          <a:ea typeface="Noto Serif CJK SC"/>
                          <a:cs typeface="Times New Roman" panose="02020603050405020304" pitchFamily="18" charset="0"/>
                        </a:rPr>
                        <a:t>~10.8%</a:t>
                      </a:r>
                    </a:p>
                  </a:txBody>
                  <a:tcPr marL="22343" marR="22343" marT="22343" marB="2234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232090"/>
                  </a:ext>
                </a:extLst>
              </a:tr>
              <a:tr h="38365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ea typeface="Noto Serif CJK SC"/>
                          <a:cs typeface="Times New Roman" panose="02020603050405020304" pitchFamily="18" charset="0"/>
                        </a:rPr>
                        <a:t>Kênh truyền thực tế</a:t>
                      </a:r>
                    </a:p>
                  </a:txBody>
                  <a:tcPr marL="22343" marR="22343" marT="22343" marB="2234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2200" kern="100" dirty="0">
                          <a:effectLst/>
                          <a:latin typeface="Times New Roman" panose="02020603050405020304" pitchFamily="18" charset="0"/>
                          <a:ea typeface="Noto Serif CJK SC"/>
                          <a:cs typeface="Times New Roman" panose="02020603050405020304" pitchFamily="18" charset="0"/>
                        </a:rPr>
                        <a:t>~27.6%</a:t>
                      </a:r>
                    </a:p>
                  </a:txBody>
                  <a:tcPr marL="22343" marR="22343" marT="22343" marB="2234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20777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7439E8C-368B-ED67-ACB4-438039EB6B84}"/>
              </a:ext>
            </a:extLst>
          </p:cNvPr>
          <p:cNvSpPr txBox="1"/>
          <p:nvPr/>
        </p:nvSpPr>
        <p:spPr>
          <a:xfrm>
            <a:off x="159595" y="3429000"/>
            <a:ext cx="6258232" cy="2357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Kết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 </a:t>
            </a: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luận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: </a:t>
            </a:r>
            <a:endParaRPr lang="en-US" sz="2200" kern="100" dirty="0">
              <a:effectLst/>
              <a:latin typeface="Times New Roman" panose="02020603050405020304" pitchFamily="18" charset="0"/>
              <a:ea typeface="Noto Serif CJK SC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spcAft>
                <a:spcPts val="700"/>
              </a:spcAft>
              <a:buFont typeface="Wingdings" panose="05000000000000000000" pitchFamily="2" charset="2"/>
              <a:buChar char=""/>
            </a:pP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Nhiễu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 Gaussian </a:t>
            </a: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gần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 </a:t>
            </a: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như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 </a:t>
            </a: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không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 </a:t>
            </a: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ảnh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 </a:t>
            </a: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hưởng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.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20000"/>
              </a:lnSpc>
              <a:spcAft>
                <a:spcPts val="700"/>
              </a:spcAft>
              <a:buFont typeface="Wingdings" panose="05000000000000000000" pitchFamily="2" charset="2"/>
              <a:buChar char=""/>
            </a:pP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Rayleigh Fading </a:t>
            </a: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là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 </a:t>
            </a: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tác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 </a:t>
            </a: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nhân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 </a:t>
            </a: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chính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.</a:t>
            </a:r>
            <a:endParaRPr lang="en-US" sz="2200" kern="100" dirty="0">
              <a:effectLst/>
              <a:latin typeface="Times New Roman" panose="02020603050405020304" pitchFamily="18" charset="0"/>
              <a:ea typeface="Noto Serif CJK SC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spcAft>
                <a:spcPts val="700"/>
              </a:spcAft>
              <a:buFont typeface="Wingdings" panose="05000000000000000000" pitchFamily="2" charset="2"/>
              <a:buChar char=""/>
            </a:pP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Noise + Fading </a:t>
            </a: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tạo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 “</a:t>
            </a: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hiệu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 </a:t>
            </a: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ứng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 </a:t>
            </a: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tăng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 </a:t>
            </a: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cường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”, </a:t>
            </a: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làm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 PDR </a:t>
            </a: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giảm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 </a:t>
            </a: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gấp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 </a:t>
            </a: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đôi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 so </a:t>
            </a:r>
            <a:r>
              <a:rPr lang="en-US" sz="2200" b="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với</a:t>
            </a:r>
            <a:r>
              <a:rPr lang="en-US" sz="2200" b="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 Fading Only</a:t>
            </a:r>
            <a:r>
              <a:rPr lang="en-US" sz="1800" b="0" kern="100" dirty="0">
                <a:effectLst/>
                <a:latin typeface="Liberation Serif"/>
                <a:ea typeface="Noto Serif CJK SC"/>
                <a:cs typeface="Noto Sans Devanagari" panose="020B0502040504020204" pitchFamily="34" charset="0"/>
              </a:rPr>
              <a:t>.</a:t>
            </a:r>
            <a:endParaRPr lang="en-US" sz="1800" kern="100" dirty="0">
              <a:effectLst/>
              <a:latin typeface="Liberation Serif"/>
              <a:ea typeface="Noto Serif CJK SC"/>
              <a:cs typeface="Noto Sans Devanagari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667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"/>
            <a:lum/>
          </a:blip>
          <a:srcRect/>
          <a:stretch>
            <a:fillRect t="-30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D7192D-EA8C-2475-9812-A5A35B1DA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107A8BF-9674-1A27-A7E4-1B5E9B2E80AB}"/>
              </a:ext>
            </a:extLst>
          </p:cNvPr>
          <p:cNvSpPr txBox="1"/>
          <p:nvPr/>
        </p:nvSpPr>
        <p:spPr>
          <a:xfrm>
            <a:off x="-117986" y="79621"/>
            <a:ext cx="28512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rgbClr val="383C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Kết luận</a:t>
            </a:r>
            <a:endParaRPr lang="vi-VN" sz="3200" b="1">
              <a:solidFill>
                <a:srgbClr val="383C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83977A-0133-E399-AAEA-BA4A6AD19A14}"/>
              </a:ext>
            </a:extLst>
          </p:cNvPr>
          <p:cNvSpPr txBox="1"/>
          <p:nvPr/>
        </p:nvSpPr>
        <p:spPr>
          <a:xfrm>
            <a:off x="395468" y="664396"/>
            <a:ext cx="11401063" cy="5109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Rayleigh Fading là nguyên nhân suy giảm mạnh nhất, đặc biệt khi khoảng cách lớn.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Noise gần như không ảnh hưởng đến chất lượng truyền.Khi có cả nhiễu + fading, PDR giảm tối đa ~65%.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mô mạng tối ưu: 4 nodes → từ 6 nodes trở lên PDR giảm mạnh, delay mất ổn định (nặng nhất ở 8 nodes).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Khoảng cách triển khai tốt nhất ≤ 20m. Từ 25–30m, hiệu năng giảm mạnh, nhất là với mạng đông node.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Khuyến nghị: dùng cluster ≤ 4 nodes, tránh 8 nodes, giữ khoảng cách ngắn để tăng độ tin cậy.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Mô phỏng cung cấp cơ sở định lượng hữu ích cho thiết kế mạng ZigBee trong nhà thông minh và gợi ý mở rộng với topology/phân bố môi trường phức tạp hơn.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272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AFCF4670CE3745BA504989B24FD943" ma:contentTypeVersion="15" ma:contentTypeDescription="Create a new document." ma:contentTypeScope="" ma:versionID="fb347f61548962f692f5b2cd4e9b3de8">
  <xsd:schema xmlns:xsd="http://www.w3.org/2001/XMLSchema" xmlns:xs="http://www.w3.org/2001/XMLSchema" xmlns:p="http://schemas.microsoft.com/office/2006/metadata/properties" xmlns:ns3="dad0ec12-f8ec-4490-8ae1-467d048451b7" xmlns:ns4="9af3a453-42f8-4e33-a47a-d8cffdb28839" targetNamespace="http://schemas.microsoft.com/office/2006/metadata/properties" ma:root="true" ma:fieldsID="451b8d6322afe0cb511b630be9ecac9a" ns3:_="" ns4:_="">
    <xsd:import namespace="dad0ec12-f8ec-4490-8ae1-467d048451b7"/>
    <xsd:import namespace="9af3a453-42f8-4e33-a47a-d8cffdb28839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0ec12-f8ec-4490-8ae1-467d048451b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f3a453-42f8-4e33-a47a-d8cffdb28839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d0ec12-f8ec-4490-8ae1-467d048451b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81541C-93C1-4F1E-8AF8-0244C2ECFC9C}">
  <ds:schemaRefs>
    <ds:schemaRef ds:uri="9af3a453-42f8-4e33-a47a-d8cffdb28839"/>
    <ds:schemaRef ds:uri="dad0ec12-f8ec-4490-8ae1-467d048451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699EAEE-452A-4024-A68E-575696728B57}">
  <ds:schemaRefs>
    <ds:schemaRef ds:uri="http://purl.org/dc/elements/1.1/"/>
    <ds:schemaRef ds:uri="http://www.w3.org/XML/1998/namespace"/>
    <ds:schemaRef ds:uri="dad0ec12-f8ec-4490-8ae1-467d048451b7"/>
    <ds:schemaRef ds:uri="http://schemas.microsoft.com/office/2006/documentManagement/types"/>
    <ds:schemaRef ds:uri="9af3a453-42f8-4e33-a47a-d8cffdb28839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B50F779-4B50-41FA-AAA4-8697C6BEA5A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Week_2</Template>
  <TotalTime>31</TotalTime>
  <Words>1245</Words>
  <Application>Microsoft Office PowerPoint</Application>
  <PresentationFormat>Widescreen</PresentationFormat>
  <Paragraphs>154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Liberation Serif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Trần Viết Thắng</dc:creator>
  <cp:lastModifiedBy>Trần Viết Thắng</cp:lastModifiedBy>
  <cp:revision>5</cp:revision>
  <dcterms:created xsi:type="dcterms:W3CDTF">2025-11-11T00:13:47Z</dcterms:created>
  <dcterms:modified xsi:type="dcterms:W3CDTF">2025-11-26T03:19:56Z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0x010100DAAFCF4670CE3745BA504989B24FD943</vt:lpwstr>
  </property>
</Properties>
</file>